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EduOS</a:t>
            </a:r>
          </a:p>
          <a:p>
            <a:pPr algn="ctr">
              <a:defRPr sz="2800">
                <a:solidFill>
                  <a:srgbClr val="2563EB"/>
                </a:solidFill>
              </a:defRPr>
            </a:pPr>
            <a:r>
              <a:t>Engineering Education Operating System</a:t>
            </a:r>
          </a:p>
          <a:p>
            <a:pPr algn="ctr">
              <a:defRPr sz="2000">
                <a:solidFill>
                  <a:srgbClr val="AABBCC"/>
                </a:solidFill>
              </a:defRPr>
            </a:pPr>
            <a:r>
              <a:t>Faculty Review &amp; Prototype Demonstration</a:t>
            </a:r>
          </a:p>
          <a:p>
            <a:pPr>
              <a:defRPr sz="1400"/>
            </a:pPr>
          </a:p>
          <a:p>
            <a:pPr algn="ctr">
              <a:defRPr sz="1800">
                <a:solidFill>
                  <a:srgbClr val="AABBCC"/>
                </a:solidFill>
              </a:defRPr>
            </a:pPr>
            <a:r>
              <a:t>Jainam H. Maru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Problem: The Cost &amp; Complexity of Lab Computing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Solution: EduOS — One OS, Zero Licenses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Live Demonstration (LearnHub, Dev Suite, Cyber Lab, Exam Portal)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Security &amp; Integrity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Cost-Benefit Analysis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Current Status &amp; Roadmap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Funding Request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Windows licenses cost ₹5,000–15,000 per seat per year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Lab setup takes 2–3 weeks every semester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Third-party proctoring: ₹200–500 per student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Inconsistent student environments = grading issues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Dedicated IT staff needed for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No unified platform for learning, exams, and labs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EduOS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Debian 13 Trixie + KDE Plasma 6 — 100% open source, zero license cost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Single bootable ISO — install or run live in under 1 hour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Five integrated modules in one OS: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    LearnHub (LMS) | Exam Portal | Dev Suite | Cyber Lab | Admin Center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Windows 11 desktop layout — zero learning curve for students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Glassmorphism SDDM theme + full EduOS branding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Pre-loaded: Python, GCC, VS Code, Git, Node.js, Docker, Burp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  <a:r>
              <a:t>1.  Desktop Tour — Windows 11 layout, taskbar, watermark, wallpaper</a:t>
            </a: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  <a:r>
              <a:t>2.  LearnHub — Assignments, materials, announcements, schedule</a:t>
            </a: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  <a:r>
              <a:t>3.  Dev Suite — VS Code, terminal, docs launcher</a:t>
            </a: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  <a:r>
              <a:t>4.  Admin Center — System monitoring, user management, network</a:t>
            </a: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  <a:r>
              <a:t>5.  Demo Exam — Secure login, MCQ, coding, encrypted results</a:t>
            </a: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AABBCC"/>
                </a:solidFill>
              </a:defRPr>
            </a:pPr>
            <a:r>
              <a:t>6.  Cyber Lab — Docker container management, OWASP Juice 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Exam 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Full-screen lockdown: frameless window, keyboard grab, timer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Fernet encryption with PBKDF2 — 480,000 iterations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Security audit log: all actions timestamped and recorded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No Alt+Tab, no Super key, no Print Screen during exam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Auto-submit on timeout — zero data loss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Results exportable as JSON or PDF with integrity hash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Cost-Benefit Analysis (30-Seat Lab, 4 Years)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Item                           Traditional          EduOS               </a:t>
            </a:r>
          </a:p>
          <a:p>
            <a:pPr>
              <a:spcAft>
                <a:spcPts val="600"/>
              </a:spcAft>
              <a:defRPr sz="1600">
                <a:solidFill>
                  <a:srgbClr val="AABBCC"/>
                </a:solidFill>
              </a:defRPr>
            </a:pPr>
            <a:r>
              <a:t>OS Licenses                    ₹6,00,000            ₹0                  </a:t>
            </a:r>
          </a:p>
          <a:p>
            <a:pPr>
              <a:spcAft>
                <a:spcPts val="600"/>
              </a:spcAft>
              <a:defRPr sz="1600">
                <a:solidFill>
                  <a:srgbClr val="AABBCC"/>
                </a:solidFill>
              </a:defRPr>
            </a:pPr>
            <a:r>
              <a:t>Proctoring Software            ₹2,40,000            ₹0                  </a:t>
            </a:r>
          </a:p>
          <a:p>
            <a:pPr>
              <a:spcAft>
                <a:spcPts val="600"/>
              </a:spcAft>
              <a:defRPr sz="1600">
                <a:solidFill>
                  <a:srgbClr val="AABBCC"/>
                </a:solidFill>
              </a:defRPr>
            </a:pPr>
            <a:r>
              <a:t>IT Setup (200 hrs)             ₹1,00,000            ₹5,000              </a:t>
            </a:r>
          </a:p>
          <a:p>
            <a:pPr>
              <a:spcAft>
                <a:spcPts val="600"/>
              </a:spcAft>
              <a:defRPr sz="1600">
                <a:solidFill>
                  <a:srgbClr val="AABBCC"/>
                </a:solidFill>
              </a:defRPr>
            </a:pPr>
            <a:r>
              <a:t>Maintenance (4 yrs)            ₹3,00,000            ₹50,000             </a:t>
            </a:r>
          </a:p>
          <a:p>
            <a:pPr>
              <a:spcAft>
                <a:spcPts val="600"/>
              </a:spcAft>
              <a:defRPr sz="1600">
                <a:solidFill>
                  <a:srgbClr val="AABBCC"/>
                </a:solidFill>
              </a:defRPr>
            </a:pPr>
            <a:r>
              <a:t>Total                          ₹12,40,000           ₹55,000             </a:t>
            </a:r>
          </a:p>
          <a:p>
            <a:pPr>
              <a:defRPr sz="1000"/>
            </a:pPr>
          </a:p>
          <a:p>
            <a:pPr>
              <a:defRPr sz="2000" b="1">
                <a:solidFill>
                  <a:srgbClr val="22C55E"/>
                </a:solidFill>
              </a:defRPr>
            </a:pPr>
            <a:r>
              <a:t>Total Savings: ₹11,85,000 (95% reduction)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Base: Debian 13 Trixie (stable, long-term support)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Desktop: KDE Plasma 6 with Windows 11 layout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Theme: Custom glassmorphism SDDM, EduOS color scheme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Backend: Python 3.13, Flask, SQLite, PyQt6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Security: Fernet, PBKDF2, system hardening scripts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Virtualization: Docker for Cyber Lab containers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Build: live-build — single command ISO generation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Boot: GRUB + syslinux, BIOS + UEFI hybrid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v1.0-rc1 built and verified — 2.3 GB ISO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320,568 files across squashfs filesystem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All 53 EduOS-specific assets confirmed present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All 5 application modules functional and tested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SDDM theme, wallpaper, Plymouth boot splash deployed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Desktop layout applied for all users + /etc/skel</a:t>
            </a:r>
          </a:p>
          <a:p>
            <a:pPr>
              <a:spcAft>
                <a:spcPts val="1000"/>
              </a:spcAft>
              <a:defRPr sz="1800">
                <a:solidFill>
                  <a:srgbClr val="AABBCC"/>
                </a:solidFill>
              </a:defRPr>
            </a:pPr>
            <a:r>
              <a:t>  Full project tracked in Git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AABBCC"/>
                </a:solidFill>
              </a:defRPr>
            </a:pPr>
            <a:r>
              <a:t>  v1.0-rc1 (June 2026) — Feature-complete prototype  Done</a:t>
            </a:r>
          </a:p>
          <a:p>
            <a:pPr>
              <a:spcAft>
                <a:spcPts val="1000"/>
              </a:spcAft>
              <a:defRPr sz="1600">
                <a:solidFill>
                  <a:srgbClr val="AABBCC"/>
                </a:solidFill>
              </a:defRPr>
            </a:pPr>
            <a:r>
              <a:t>  v1.0-rc2 (July 2026) — Polish, bug fixes, hardening  Next</a:t>
            </a:r>
          </a:p>
          <a:p>
            <a:pPr>
              <a:spcAft>
                <a:spcPts val="1000"/>
              </a:spcAft>
              <a:defRPr sz="1600">
                <a:solidFill>
                  <a:srgbClr val="AABBCC"/>
                </a:solidFill>
              </a:defRPr>
            </a:pPr>
            <a:r>
              <a:t>  v1.0 (Aug 2026) — Production release  Target</a:t>
            </a:r>
          </a:p>
          <a:p>
            <a:pPr>
              <a:spcAft>
                <a:spcPts val="1000"/>
              </a:spcAft>
              <a:defRPr sz="1600">
                <a:solidFill>
                  <a:srgbClr val="AABBCC"/>
                </a:solidFill>
              </a:defRPr>
            </a:pPr>
            <a:r>
              <a:t>  Future: Metasploit/exploitdb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AABBCC"/>
                </a:solidFill>
              </a:defRPr>
            </a:pPr>
            <a:r>
              <a:t>  Future: pgAdmin4, MongoDB Shell, EDA tool compatibility</a:t>
            </a:r>
          </a:p>
          <a:p>
            <a:pPr>
              <a:spcAft>
                <a:spcPts val="1000"/>
              </a:spcAft>
              <a:defRPr sz="1600">
                <a:solidFill>
                  <a:srgbClr val="AABBCC"/>
                </a:solidFill>
              </a:defRPr>
            </a:pPr>
            <a:r>
              <a:t>  Future: CI/CD pipeline for automated ISO builds</a:t>
            </a:r>
          </a:p>
          <a:p>
            <a:pPr>
              <a:spcAft>
                <a:spcPts val="1000"/>
              </a:spcAft>
              <a:defRPr sz="1600">
                <a:solidFill>
                  <a:srgbClr val="AABBCC"/>
                </a:solidFill>
              </a:defRPr>
            </a:pPr>
            <a:r>
              <a:t>  Future: Over-the-air update mechanism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Funding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AABBCC"/>
                </a:solidFill>
              </a:defRPr>
            </a:pPr>
            <a:r>
              <a:t>  Phase 1 Pilot (1 lab, 30 seats)                       ₹50,000</a:t>
            </a:r>
          </a:p>
          <a:p>
            <a:pPr>
              <a:spcAft>
                <a:spcPts val="1200"/>
              </a:spcAft>
              <a:defRPr sz="1800">
                <a:solidFill>
                  <a:srgbClr val="AABBCC"/>
                </a:solidFill>
              </a:defRPr>
            </a:pPr>
            <a:r>
              <a:t>  Phase 2 Dept-wide (4 labs, 120 seats)               ₹1,50,000</a:t>
            </a:r>
          </a:p>
          <a:p>
            <a:pPr>
              <a:spcAft>
                <a:spcPts val="1200"/>
              </a:spcAft>
              <a:defRPr sz="1800">
                <a:solidFill>
                  <a:srgbClr val="AABBCC"/>
                </a:solidFill>
              </a:defRPr>
            </a:pPr>
            <a:r>
              <a:t>  Full Adoption (all labs + faculty)                  ₹3,00,000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BCC"/>
                </a:solidFill>
              </a:defRPr>
            </a:pPr>
            <a:r>
              <a:t>What funding enables: Security audit, pilot hardware, Metasploit/exploitdb integration, CI/CD pipeline, faculty training materials, video tutorials, deployment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1400"/>
            </a:pPr>
          </a:p>
          <a:p>
            <a:pPr algn="ctr">
              <a:defRPr sz="2800">
                <a:solidFill>
                  <a:srgbClr val="2563EB"/>
                </a:solidFill>
              </a:defRPr>
            </a:pPr>
            <a:r>
              <a:t>Questions &amp; Discussion</a:t>
            </a:r>
          </a:p>
          <a:p>
            <a:pPr>
              <a:defRPr sz="1400"/>
            </a:pPr>
          </a:p>
          <a:p>
            <a:pPr algn="ctr">
              <a:defRPr sz="2000">
                <a:solidFill>
                  <a:srgbClr val="AABBCC"/>
                </a:solidFill>
              </a:defRPr>
            </a:pPr>
            <a:r>
              <a:t>Jainam H. Maru</a:t>
            </a:r>
          </a:p>
          <a:p>
            <a:pPr algn="ctr">
              <a:defRPr sz="1600">
                <a:solidFill>
                  <a:srgbClr val="AABBCC"/>
                </a:solidFill>
              </a:defRPr>
            </a:pPr>
            <a:r>
              <a:t>EduOS — Engineering Education Operating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